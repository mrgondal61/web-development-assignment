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  <p:sldId id="266" r:id="rId12"/>
  </p:sldIdLst>
  <p:sldSz cx="14630400" cy="8229600"/>
  <p:notesSz cx="8229600" cy="14630400"/>
  <p:embeddedFontLst>
    <p:embeddedFont>
      <p:font typeface="Quattrocento" panose="02020502030000000404" pitchFamily="18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9C82"/>
    <a:srgbClr val="F59871"/>
    <a:srgbClr val="E8A86F"/>
    <a:srgbClr val="123B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3C308C-FAF0-4877-8B7D-75892B928B0C}" v="55" dt="2026-02-25T05:52:56.103"/>
    <p1510:client id="{9E03FA1C-31B3-4BB1-8C93-D2303F662873}" v="346" dt="2026-02-24T16:10:11.6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BD8E0E-F037-4149-852B-B8AF9E8B3F16}" type="datetimeFigureOut"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3AB002-2319-4CFE-997B-DE1E23D8587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654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svg"/><Relationship Id="rId3" Type="http://schemas.openxmlformats.org/officeDocument/2006/relationships/image" Target="../media/image19.png"/><Relationship Id="rId7" Type="http://schemas.openxmlformats.org/officeDocument/2006/relationships/image" Target="../media/image23.sv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397562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Banker’s Algorithm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3197304"/>
            <a:ext cx="7468553" cy="112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Deadlock Avoidance in Operating Systems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837724" y="4682847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Course:</a:t>
            </a:r>
            <a:r>
              <a:rPr lang="en-US" sz="2400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 Operating Systems</a:t>
            </a:r>
            <a:endParaRPr lang="en-US" sz="2400">
              <a:latin typeface="Quattrocento"/>
              <a:ea typeface="Calibri"/>
              <a:cs typeface="Calibri"/>
            </a:endParaRPr>
          </a:p>
          <a:p>
            <a:pPr>
              <a:lnSpc>
                <a:spcPts val="3000"/>
              </a:lnSpc>
            </a:pPr>
            <a:r>
              <a:rPr lang="en-US" sz="2400" b="1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Roll No:</a:t>
            </a:r>
            <a:r>
              <a:rPr lang="en-US" sz="2400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 061, 066, 306</a:t>
            </a:r>
            <a:endParaRPr lang="en-US" sz="2400">
              <a:ea typeface="Calibri"/>
              <a:cs typeface="Calibri"/>
            </a:endParaRPr>
          </a:p>
          <a:p>
            <a:pPr>
              <a:lnSpc>
                <a:spcPts val="3000"/>
              </a:lnSpc>
            </a:pPr>
            <a:r>
              <a:rPr lang="en-US" sz="2400" b="1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Semester:</a:t>
            </a:r>
            <a:r>
              <a:rPr lang="en-US" sz="2400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 BSCS-V-B</a:t>
            </a:r>
            <a:endParaRPr lang="en-US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E0BAF3-A207-CBF4-5215-CDBC38D71C6F}"/>
              </a:ext>
            </a:extLst>
          </p:cNvPr>
          <p:cNvSpPr/>
          <p:nvPr/>
        </p:nvSpPr>
        <p:spPr>
          <a:xfrm>
            <a:off x="8977472" y="3001"/>
            <a:ext cx="5658926" cy="8229598"/>
          </a:xfrm>
          <a:prstGeom prst="rect">
            <a:avLst/>
          </a:prstGeom>
          <a:solidFill>
            <a:srgbClr val="EF9C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30235"/>
            <a:ext cx="665833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Introduction to Deadlocks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1854210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A state where two or more processes are indefinitely waiting for each other to release resources.</a:t>
            </a:r>
            <a:endParaRPr lang="en-US" sz="1850" dirty="0">
              <a:latin typeface="Quattrocento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872972" y="317813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Mutual Exclusion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7724" y="3673673"/>
            <a:ext cx="38514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Only one process can use a resource at a time.</a:t>
            </a:r>
            <a:endParaRPr lang="en-US" sz="18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131" y="2765227"/>
            <a:ext cx="4534138" cy="453413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3966" y="3731062"/>
            <a:ext cx="358140" cy="3581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41243" y="317813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Hold and Wait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941243" y="3673673"/>
            <a:ext cx="38514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Process holds resources while waiting for new ones.</a:t>
            </a:r>
            <a:endParaRPr lang="en-US" sz="18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8131" y="2765227"/>
            <a:ext cx="4534138" cy="4534138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58175" y="3731062"/>
            <a:ext cx="358140" cy="3581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941243" y="562475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 Preemption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9941243" y="6120289"/>
            <a:ext cx="38514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Resources cannot be forcibly taken from a process.</a:t>
            </a:r>
            <a:endParaRPr lang="en-US" sz="18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8131" y="2765227"/>
            <a:ext cx="4534138" cy="4534138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58175" y="5975271"/>
            <a:ext cx="358140" cy="35814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872972" y="562475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Circular Wait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837724" y="6120289"/>
            <a:ext cx="38514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Processes form a circular chain, each waiting for the next.</a:t>
            </a:r>
            <a:endParaRPr lang="en-US" sz="18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48131" y="2765227"/>
            <a:ext cx="4534138" cy="4534138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3966" y="5975271"/>
            <a:ext cx="358140" cy="35814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3916E5B-877D-FF00-C8BB-93743C08E5A5}"/>
              </a:ext>
            </a:extLst>
          </p:cNvPr>
          <p:cNvSpPr/>
          <p:nvPr/>
        </p:nvSpPr>
        <p:spPr>
          <a:xfrm>
            <a:off x="376" y="7690261"/>
            <a:ext cx="14630399" cy="534838"/>
          </a:xfrm>
          <a:prstGeom prst="rect">
            <a:avLst/>
          </a:prstGeom>
          <a:solidFill>
            <a:srgbClr val="EF9C82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566316"/>
            <a:ext cx="800885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Deadlock Handling Approaches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852601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Strategies to manage and mitigate deadlocks in an operating system.</a:t>
            </a:r>
            <a:endParaRPr lang="en-US" sz="2000" dirty="0">
              <a:latin typeface="Quattrocento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37724" y="3660100"/>
            <a:ext cx="12954952" cy="2092166"/>
          </a:xfrm>
          <a:prstGeom prst="roundRect">
            <a:avLst>
              <a:gd name="adj" fmla="val 1716"/>
            </a:avLst>
          </a:prstGeom>
          <a:solidFill>
            <a:srgbClr val="315251"/>
          </a:solidFill>
          <a:ln/>
        </p:spPr>
      </p:sp>
      <p:sp>
        <p:nvSpPr>
          <p:cNvPr id="5" name="Shape 3"/>
          <p:cNvSpPr/>
          <p:nvPr/>
        </p:nvSpPr>
        <p:spPr>
          <a:xfrm>
            <a:off x="837724" y="3660100"/>
            <a:ext cx="4318278" cy="2092166"/>
          </a:xfrm>
          <a:prstGeom prst="roundRect">
            <a:avLst>
              <a:gd name="adj" fmla="val 1716"/>
            </a:avLst>
          </a:prstGeom>
          <a:solidFill>
            <a:srgbClr val="315251"/>
          </a:solidFill>
          <a:ln/>
        </p:spPr>
      </p:sp>
      <p:sp>
        <p:nvSpPr>
          <p:cNvPr id="6" name="Text 4"/>
          <p:cNvSpPr/>
          <p:nvPr/>
        </p:nvSpPr>
        <p:spPr>
          <a:xfrm>
            <a:off x="1077039" y="389941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Deadlock Prevention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77039" y="4394954"/>
            <a:ext cx="348055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Negates one of the four necessary conditions.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5156002" y="3660100"/>
            <a:ext cx="4318278" cy="2092166"/>
          </a:xfrm>
          <a:prstGeom prst="rect">
            <a:avLst/>
          </a:prstGeom>
          <a:solidFill>
            <a:srgbClr val="315251"/>
          </a:solidFill>
          <a:ln/>
        </p:spPr>
      </p:sp>
      <p:sp>
        <p:nvSpPr>
          <p:cNvPr id="9" name="Shape 7"/>
          <p:cNvSpPr/>
          <p:nvPr/>
        </p:nvSpPr>
        <p:spPr>
          <a:xfrm>
            <a:off x="5156002" y="3660100"/>
            <a:ext cx="30480" cy="2092166"/>
          </a:xfrm>
          <a:prstGeom prst="roundRect">
            <a:avLst>
              <a:gd name="adj" fmla="val 117806"/>
            </a:avLst>
          </a:prstGeom>
          <a:solidFill>
            <a:srgbClr val="4A6B6A"/>
          </a:solidFill>
          <a:ln/>
        </p:spPr>
      </p:sp>
      <p:sp>
        <p:nvSpPr>
          <p:cNvPr id="10" name="Text 8"/>
          <p:cNvSpPr/>
          <p:nvPr/>
        </p:nvSpPr>
        <p:spPr>
          <a:xfrm>
            <a:off x="5754410" y="389941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Deadlock Avoidance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754410" y="4394954"/>
            <a:ext cx="312146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Dynamically checks resource-allocation state.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4856798" y="4406979"/>
            <a:ext cx="598408" cy="598408"/>
          </a:xfrm>
          <a:prstGeom prst="roundRect">
            <a:avLst>
              <a:gd name="adj" fmla="val 6000"/>
            </a:avLst>
          </a:prstGeom>
          <a:solidFill>
            <a:srgbClr val="123332"/>
          </a:solidFill>
          <a:ln w="30480">
            <a:solidFill>
              <a:srgbClr val="4A6B6A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06340" y="4556522"/>
            <a:ext cx="299204" cy="29920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474279" y="3660100"/>
            <a:ext cx="4318278" cy="2092166"/>
          </a:xfrm>
          <a:prstGeom prst="rect">
            <a:avLst/>
          </a:prstGeom>
          <a:solidFill>
            <a:srgbClr val="315251"/>
          </a:solidFill>
          <a:ln/>
        </p:spPr>
      </p:sp>
      <p:sp>
        <p:nvSpPr>
          <p:cNvPr id="15" name="Shape 12"/>
          <p:cNvSpPr/>
          <p:nvPr/>
        </p:nvSpPr>
        <p:spPr>
          <a:xfrm>
            <a:off x="9474279" y="3660100"/>
            <a:ext cx="30480" cy="2092166"/>
          </a:xfrm>
          <a:prstGeom prst="roundRect">
            <a:avLst>
              <a:gd name="adj" fmla="val 117806"/>
            </a:avLst>
          </a:prstGeom>
          <a:solidFill>
            <a:srgbClr val="4A6B6A"/>
          </a:solidFill>
          <a:ln/>
        </p:spPr>
      </p:sp>
      <p:sp>
        <p:nvSpPr>
          <p:cNvPr id="16" name="Text 13"/>
          <p:cNvSpPr/>
          <p:nvPr/>
        </p:nvSpPr>
        <p:spPr>
          <a:xfrm>
            <a:off x="10072688" y="3899416"/>
            <a:ext cx="3480554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Deadlock Detection &amp; Recovery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0072688" y="4746903"/>
            <a:ext cx="348055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Detects deadlocks and then recovers from them.</a:t>
            </a:r>
            <a:endParaRPr lang="en-US" sz="1850" dirty="0"/>
          </a:p>
        </p:txBody>
      </p:sp>
      <p:sp>
        <p:nvSpPr>
          <p:cNvPr id="18" name="Shape 15"/>
          <p:cNvSpPr/>
          <p:nvPr/>
        </p:nvSpPr>
        <p:spPr>
          <a:xfrm>
            <a:off x="9175075" y="4406979"/>
            <a:ext cx="598408" cy="598408"/>
          </a:xfrm>
          <a:prstGeom prst="roundRect">
            <a:avLst>
              <a:gd name="adj" fmla="val 6000"/>
            </a:avLst>
          </a:prstGeom>
          <a:solidFill>
            <a:srgbClr val="123332"/>
          </a:solidFill>
          <a:ln w="30480">
            <a:solidFill>
              <a:srgbClr val="4A6B6A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24618" y="4556522"/>
            <a:ext cx="299204" cy="29920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37724" y="6021467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Banker's Algorithm</a:t>
            </a:r>
            <a:r>
              <a:rPr lang="en-US" sz="2000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 is a prominent </a:t>
            </a:r>
            <a:r>
              <a:rPr lang="en-US" sz="2000" dirty="0">
                <a:solidFill>
                  <a:srgbClr val="EF9C82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Deadlock Avoidance</a:t>
            </a:r>
            <a:r>
              <a:rPr lang="en-US" sz="2000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 technique.</a:t>
            </a:r>
            <a:endParaRPr lang="en-US" sz="2000" dirty="0">
              <a:latin typeface="Quattrocento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B7B983-55AD-2BB2-8AB9-7E6AA46798E9}"/>
              </a:ext>
            </a:extLst>
          </p:cNvPr>
          <p:cNvSpPr/>
          <p:nvPr/>
        </p:nvSpPr>
        <p:spPr>
          <a:xfrm>
            <a:off x="376" y="7690261"/>
            <a:ext cx="14630399" cy="534838"/>
          </a:xfrm>
          <a:prstGeom prst="rect">
            <a:avLst/>
          </a:prstGeom>
          <a:solidFill>
            <a:srgbClr val="EF9C82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26877"/>
            <a:ext cx="710886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What is Banker’s Algorithm?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190964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Ensuring system safety through a resource allocation strategy.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2777252"/>
            <a:ext cx="8216265" cy="3315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Proposed by Edsger Dijkstra:</a:t>
            </a: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A pioneering concept in OS resource management.</a:t>
            </a:r>
            <a:endParaRPr lang="en-US" sz="185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Banking System Analogy:</a:t>
            </a:r>
            <a:r>
              <a:rPr lang="en-US" sz="1850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 Named for its parallel to how banks ensure </a:t>
            </a:r>
            <a:endParaRPr lang="en-US" sz="1850" dirty="0">
              <a:solidFill>
                <a:srgbClr val="000000"/>
              </a:solidFill>
              <a:latin typeface="Quattrocento"/>
              <a:ea typeface="Calibri" panose="020F0502020204030204"/>
              <a:cs typeface="Calibri" panose="020F0502020204030204"/>
            </a:endParaRPr>
          </a:p>
          <a:p>
            <a:pPr>
              <a:lnSpc>
                <a:spcPts val="3000"/>
              </a:lnSpc>
              <a:buSzPct val="100000"/>
            </a:pPr>
            <a:r>
              <a:rPr lang="en-US" sz="1850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  they can meet all customer demands.</a:t>
            </a:r>
            <a:endParaRPr lang="en-US" sz="1850">
              <a:latin typeface="Quattrocento"/>
              <a:ea typeface="Calibri"/>
              <a:cs typeface="Calibri"/>
            </a:endParaRPr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Never Enters Unsafe State:</a:t>
            </a:r>
            <a:r>
              <a:rPr lang="en-US" sz="1850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 Guarantees that the system can always </a:t>
            </a:r>
            <a:endParaRPr lang="en-US" sz="1850" dirty="0">
              <a:solidFill>
                <a:srgbClr val="000000"/>
              </a:solidFill>
              <a:latin typeface="Quattrocento"/>
              <a:ea typeface="Calibri" panose="020F0502020204030204"/>
              <a:cs typeface="Calibri" panose="020F0502020204030204"/>
            </a:endParaRPr>
          </a:p>
          <a:p>
            <a:pPr>
              <a:lnSpc>
                <a:spcPts val="3000"/>
              </a:lnSpc>
              <a:buSzPct val="100000"/>
            </a:pPr>
            <a:r>
              <a:rPr lang="en-US" sz="1850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 allocate resources to all processes in some order and avoid deadlock.</a:t>
            </a:r>
            <a:endParaRPr lang="en-US" sz="1850">
              <a:latin typeface="Quattrocento"/>
              <a:ea typeface="Calibri"/>
              <a:cs typeface="Calibri"/>
            </a:endParaRP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Known Max Resource Needs:</a:t>
            </a: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Requires processes to declare their maximum resource requirements upfront.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8869359" y="1440434"/>
            <a:ext cx="4499253" cy="4940737"/>
          </a:xfrm>
          <a:prstGeom prst="roundRect">
            <a:avLst>
              <a:gd name="adj" fmla="val 798"/>
            </a:avLst>
          </a:prstGeom>
          <a:solidFill>
            <a:srgbClr val="EF9C82"/>
          </a:solidFill>
          <a:ln/>
        </p:spPr>
      </p:sp>
      <p:sp>
        <p:nvSpPr>
          <p:cNvPr id="6" name="Text 4"/>
          <p:cNvSpPr/>
          <p:nvPr/>
        </p:nvSpPr>
        <p:spPr>
          <a:xfrm>
            <a:off x="9108674" y="173150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Safe State</a:t>
            </a:r>
            <a:endParaRPr lang="en-US" sz="2200" b="1" dirty="0">
              <a:latin typeface="Quattrocento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08674" y="2288267"/>
            <a:ext cx="4020622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 state where the system can allocate resources to each process (up to its maximum) in some order and still avoid deadlock.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9108674" y="411143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Unsafe State</a:t>
            </a:r>
            <a:endParaRPr lang="en-US" sz="2200">
              <a:latin typeface="Quattrocento"/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08674" y="4564679"/>
            <a:ext cx="4020622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 state that might lead to a deadlock; there is no sequence of resource allocation that guarantees all processes can finish.</a:t>
            </a:r>
            <a:endParaRPr lang="en-US" sz="18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40971F-8330-64F5-B774-BB7A8BFD321F}"/>
              </a:ext>
            </a:extLst>
          </p:cNvPr>
          <p:cNvSpPr/>
          <p:nvPr/>
        </p:nvSpPr>
        <p:spPr>
          <a:xfrm>
            <a:off x="376" y="7690261"/>
            <a:ext cx="14630399" cy="534838"/>
          </a:xfrm>
          <a:prstGeom prst="rect">
            <a:avLst/>
          </a:prstGeom>
          <a:solidFill>
            <a:srgbClr val="EF9C82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8552" y="730568"/>
            <a:ext cx="5369004" cy="671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Key Data Structures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8552" y="1836539"/>
            <a:ext cx="13033296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Fundamental matrices and vectors used in the Banker's Algorithm.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8552" y="2437567"/>
            <a:ext cx="13033296" cy="3970973"/>
          </a:xfrm>
          <a:prstGeom prst="roundRect">
            <a:avLst>
              <a:gd name="adj" fmla="val 862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6172" y="2445187"/>
            <a:ext cx="13018056" cy="9889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34415" y="2583299"/>
            <a:ext cx="2143482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Available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3641765" y="2583299"/>
            <a:ext cx="9954339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 vector of length 'm' indicating the number of available resources of each type. (e.g., A[j] = k, k instances of resource type j are available)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6172" y="3434120"/>
            <a:ext cx="13018056" cy="9889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34415" y="3572232"/>
            <a:ext cx="2143482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Max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3641765" y="3572232"/>
            <a:ext cx="9954339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 n x m matrix defining the maximum demand of each process. Max[i,j] = k means Process P[i] may request at most k instances of resource type R[j].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6172" y="4423053"/>
            <a:ext cx="13018056" cy="9889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34415" y="4561165"/>
            <a:ext cx="2143482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Allocation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3641765" y="4561165"/>
            <a:ext cx="9954339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 n x m matrix defining the number of resources of each type currently allocated to each process. Allocation[i,j] = k means Process P[i] is currently allocated k instances of R[j].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6172" y="5411986"/>
            <a:ext cx="13018056" cy="9889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34415" y="5550098"/>
            <a:ext cx="2143482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Need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3641765" y="5550098"/>
            <a:ext cx="9954339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 n x m matrix indicating the remaining resource need of each process. Need[i,j] = k means Process P[i] needs k more instances of R[j] to complete its task.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140738" y="6897886"/>
            <a:ext cx="12691110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Formula:</a:t>
            </a: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Need[i][j] = Max[i][j] − Allocation[i][j]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98552" y="6653213"/>
            <a:ext cx="30480" cy="845701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1A20DC-3F2E-3A89-0026-377A21DE8378}"/>
              </a:ext>
            </a:extLst>
          </p:cNvPr>
          <p:cNvSpPr/>
          <p:nvPr/>
        </p:nvSpPr>
        <p:spPr>
          <a:xfrm>
            <a:off x="376" y="7690261"/>
            <a:ext cx="14630399" cy="534838"/>
          </a:xfrm>
          <a:prstGeom prst="rect">
            <a:avLst/>
          </a:prstGeom>
          <a:solidFill>
            <a:srgbClr val="EF9C82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335" y="636746"/>
            <a:ext cx="6786324" cy="651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Safety Algorithm (Core Logic)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75335" y="1698188"/>
            <a:ext cx="13079730" cy="341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Determining if the system is in a safe state.</a:t>
            </a:r>
            <a:endParaRPr lang="en-US" sz="1700" b="1" dirty="0">
              <a:latin typeface="Quattrocento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766" y="2270046"/>
            <a:ext cx="12660749" cy="475083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97126" y="3480168"/>
            <a:ext cx="653970" cy="65397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214479" y="5878400"/>
            <a:ext cx="1909594" cy="34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Repeat</a:t>
            </a:r>
            <a:endParaRPr lang="en-US" sz="21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02980" y="3481394"/>
            <a:ext cx="653971" cy="65397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07868" y="5878400"/>
            <a:ext cx="1909594" cy="34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Mark Finish</a:t>
            </a:r>
            <a:endParaRPr lang="en-US" sz="21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09448" y="3481394"/>
            <a:ext cx="653971" cy="65397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14335" y="5878400"/>
            <a:ext cx="1909594" cy="34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Allocate</a:t>
            </a:r>
            <a:endParaRPr lang="en-US" sz="21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15916" y="3481394"/>
            <a:ext cx="653971" cy="65397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020803" y="5878400"/>
            <a:ext cx="1909594" cy="34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Find Process</a:t>
            </a:r>
            <a:endParaRPr lang="en-US" sz="21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209304" y="3481394"/>
            <a:ext cx="653971" cy="65397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574953" y="5878400"/>
            <a:ext cx="1909594" cy="34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Initialize</a:t>
            </a:r>
            <a:endParaRPr lang="en-US" sz="2150" dirty="0"/>
          </a:p>
        </p:txBody>
      </p:sp>
      <p:sp>
        <p:nvSpPr>
          <p:cNvPr id="15" name="Text 7"/>
          <p:cNvSpPr/>
          <p:nvPr/>
        </p:nvSpPr>
        <p:spPr>
          <a:xfrm>
            <a:off x="775335" y="6837434"/>
            <a:ext cx="13079730" cy="341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This algorithm iteratively checks if a safe sequence of processes exists, ensuring all processes can complete without deadlock.</a:t>
            </a:r>
            <a:endParaRPr lang="en-US" sz="1700" b="1">
              <a:latin typeface="Quattrocento"/>
              <a:ea typeface="Calibri"/>
              <a:cs typeface="Calibr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7130B5-FBAC-0907-250B-D1086F73DB37}"/>
              </a:ext>
            </a:extLst>
          </p:cNvPr>
          <p:cNvSpPr/>
          <p:nvPr/>
        </p:nvSpPr>
        <p:spPr>
          <a:xfrm>
            <a:off x="376" y="7690261"/>
            <a:ext cx="14630399" cy="534838"/>
          </a:xfrm>
          <a:prstGeom prst="rect">
            <a:avLst/>
          </a:prstGeom>
          <a:solidFill>
            <a:srgbClr val="EF9C82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79925" y="698568"/>
            <a:ext cx="5610580" cy="750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600" dirty="0">
                <a:solidFill>
                  <a:srgbClr val="FFD9BE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Resource Request Algorithm</a:t>
            </a:r>
            <a:endParaRPr lang="en-US" sz="3600" dirty="0">
              <a:latin typeface="Quattrocento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211" y="2007632"/>
            <a:ext cx="1112697" cy="11592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835355" y="2002391"/>
            <a:ext cx="2870261" cy="780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000" b="1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Check Request ≤ Need</a:t>
            </a:r>
            <a:endParaRPr lang="en-US" sz="2000" b="1">
              <a:latin typeface="Quattrocento"/>
              <a:ea typeface="Calibri"/>
              <a:cs typeface="Calibri"/>
            </a:endParaRPr>
          </a:p>
        </p:txBody>
      </p:sp>
      <p:sp>
        <p:nvSpPr>
          <p:cNvPr id="6" name="Text 3"/>
          <p:cNvSpPr/>
          <p:nvPr/>
        </p:nvSpPr>
        <p:spPr>
          <a:xfrm>
            <a:off x="2835354" y="2404763"/>
            <a:ext cx="9913263" cy="227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2000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Is the request within the process's </a:t>
            </a:r>
            <a:endParaRPr lang="en-US" sz="2000" dirty="0">
              <a:solidFill>
                <a:srgbClr val="000000"/>
              </a:solidFill>
              <a:latin typeface="Quattrocento"/>
              <a:ea typeface="Quattrocento" pitchFamily="34" charset="-122"/>
              <a:cs typeface="Quattrocento" pitchFamily="34" charset="-120"/>
            </a:endParaRPr>
          </a:p>
          <a:p>
            <a:pPr marL="0" indent="0" algn="l">
              <a:lnSpc>
                <a:spcPts val="1750"/>
              </a:lnSpc>
              <a:buNone/>
            </a:pPr>
            <a:r>
              <a:rPr lang="en-US" sz="2000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declared maximum need</a:t>
            </a:r>
            <a:endParaRPr lang="en-US" sz="2000" dirty="0">
              <a:latin typeface="Quattrocento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211" y="3908718"/>
            <a:ext cx="1112698" cy="11764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835354" y="3989736"/>
            <a:ext cx="3403645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000" b="1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Check Request ≤ Available</a:t>
            </a:r>
            <a:endParaRPr lang="en-US" sz="2000" b="1">
              <a:latin typeface="Quattrocento"/>
              <a:ea typeface="Calibri"/>
              <a:cs typeface="Calibri"/>
            </a:endParaRPr>
          </a:p>
        </p:txBody>
      </p:sp>
      <p:sp>
        <p:nvSpPr>
          <p:cNvPr id="9" name="Text 5"/>
          <p:cNvSpPr/>
          <p:nvPr/>
        </p:nvSpPr>
        <p:spPr>
          <a:xfrm>
            <a:off x="2835354" y="4443868"/>
            <a:ext cx="9913263" cy="227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2000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Are there enough resources currently</a:t>
            </a:r>
            <a:endParaRPr lang="en-US" sz="2000" dirty="0">
              <a:solidFill>
                <a:srgbClr val="000000"/>
              </a:solidFill>
              <a:latin typeface="Quattrocento"/>
              <a:ea typeface="Quattrocento" pitchFamily="34" charset="-122"/>
              <a:cs typeface="Quattrocento" pitchFamily="34" charset="-120"/>
            </a:endParaRPr>
          </a:p>
          <a:p>
            <a:pPr marL="0" indent="0" algn="l">
              <a:lnSpc>
                <a:spcPts val="1750"/>
              </a:lnSpc>
              <a:buNone/>
            </a:pPr>
            <a:r>
              <a:rPr lang="en-US" sz="2000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available in the system?</a:t>
            </a:r>
            <a:endParaRPr lang="en-US" sz="2000" dirty="0">
              <a:latin typeface="Quattrocento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3209" y="5965075"/>
            <a:ext cx="1112698" cy="117646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783595" y="6063346"/>
            <a:ext cx="1968579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000" b="1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Pretend Allocatio</a:t>
            </a:r>
            <a:r>
              <a:rPr lang="en-US" sz="2000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n</a:t>
            </a:r>
            <a:endParaRPr lang="en-US" sz="2000" dirty="0">
              <a:latin typeface="Quattrocento"/>
            </a:endParaRPr>
          </a:p>
        </p:txBody>
      </p:sp>
      <p:sp>
        <p:nvSpPr>
          <p:cNvPr id="12" name="Text 7"/>
          <p:cNvSpPr/>
          <p:nvPr/>
        </p:nvSpPr>
        <p:spPr>
          <a:xfrm>
            <a:off x="2783595" y="6500225"/>
            <a:ext cx="9913263" cy="227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2000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Temporarily allocate resources to </a:t>
            </a:r>
            <a:endParaRPr lang="en-US" sz="2000" dirty="0">
              <a:solidFill>
                <a:srgbClr val="000000"/>
              </a:solidFill>
              <a:latin typeface="Quattrocento"/>
              <a:ea typeface="Quattrocento" pitchFamily="34" charset="-122"/>
              <a:cs typeface="Quattrocento" pitchFamily="34" charset="-120"/>
            </a:endParaRPr>
          </a:p>
          <a:p>
            <a:pPr>
              <a:lnSpc>
                <a:spcPts val="1750"/>
              </a:lnSpc>
            </a:pPr>
            <a:r>
              <a:rPr lang="en-US" sz="2000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 simulate the new state..</a:t>
            </a:r>
            <a:endParaRPr lang="en-US" sz="2000" dirty="0">
              <a:latin typeface="Quattrocento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3791" y="3846247"/>
            <a:ext cx="1112697" cy="119371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425935" y="1891432"/>
            <a:ext cx="1968579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000" b="1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Run Safety Algorithm</a:t>
            </a:r>
            <a:endParaRPr lang="en-US" sz="2000" b="1" dirty="0">
              <a:latin typeface="Quattrocento"/>
            </a:endParaRPr>
          </a:p>
        </p:txBody>
      </p:sp>
      <p:sp>
        <p:nvSpPr>
          <p:cNvPr id="15" name="Text 9"/>
          <p:cNvSpPr/>
          <p:nvPr/>
        </p:nvSpPr>
        <p:spPr>
          <a:xfrm>
            <a:off x="9425935" y="2483587"/>
            <a:ext cx="9913263" cy="227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2000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Execute the safety algorithm on </a:t>
            </a:r>
            <a:endParaRPr lang="en-US" sz="2000" dirty="0">
              <a:solidFill>
                <a:srgbClr val="000000"/>
              </a:solidFill>
              <a:latin typeface="Quattrocento"/>
              <a:ea typeface="Quattrocento" pitchFamily="34" charset="-122"/>
              <a:cs typeface="Quattrocento" pitchFamily="34" charset="-120"/>
            </a:endParaRPr>
          </a:p>
          <a:p>
            <a:pPr marL="0" indent="0" algn="l">
              <a:lnSpc>
                <a:spcPts val="1750"/>
              </a:lnSpc>
              <a:buNone/>
            </a:pPr>
            <a:r>
              <a:rPr lang="en-US" sz="2000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this simulated state.</a:t>
            </a:r>
            <a:endParaRPr lang="en-US" sz="2000" dirty="0">
              <a:latin typeface="Quattrocento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6539" y="1899948"/>
            <a:ext cx="1129948" cy="117646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598464" y="3861525"/>
            <a:ext cx="1968579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000" b="1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If Safe → Grant</a:t>
            </a:r>
            <a:endParaRPr lang="en-US" sz="2000" dirty="0">
              <a:latin typeface="Quattrocento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9598463" y="4263899"/>
            <a:ext cx="9913263" cy="227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2000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If the simulated state is safe, </a:t>
            </a:r>
            <a:endParaRPr lang="en-US" sz="2000" dirty="0">
              <a:solidFill>
                <a:srgbClr val="000000"/>
              </a:solidFill>
              <a:latin typeface="Quattrocento"/>
              <a:ea typeface="Quattrocento" pitchFamily="34" charset="-122"/>
              <a:cs typeface="Quattrocento" pitchFamily="34" charset="-120"/>
            </a:endParaRPr>
          </a:p>
          <a:p>
            <a:pPr>
              <a:lnSpc>
                <a:spcPts val="1750"/>
              </a:lnSpc>
            </a:pPr>
            <a:r>
              <a:rPr lang="en-US" sz="2000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commit the allocation.</a:t>
            </a:r>
            <a:endParaRPr lang="en-US" sz="2000" dirty="0">
              <a:latin typeface="Quattrocento"/>
            </a:endParaRPr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1043" y="5957634"/>
            <a:ext cx="1095445" cy="1159211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598463" y="6073159"/>
            <a:ext cx="1968579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000" b="1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Else → Rollback</a:t>
            </a:r>
            <a:endParaRPr lang="en-US" sz="2000" b="1" dirty="0">
              <a:latin typeface="Quattrocento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9598463" y="6613555"/>
            <a:ext cx="9913263" cy="192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2000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If unsafe, deny the request and </a:t>
            </a:r>
            <a:endParaRPr lang="en-US" sz="2000" dirty="0">
              <a:solidFill>
                <a:srgbClr val="000000"/>
              </a:solidFill>
              <a:latin typeface="Quattrocento"/>
              <a:ea typeface="Quattrocento" pitchFamily="34" charset="-122"/>
              <a:cs typeface="Quattrocento" pitchFamily="34" charset="-120"/>
            </a:endParaRPr>
          </a:p>
          <a:p>
            <a:pPr marL="0" indent="0" algn="l">
              <a:lnSpc>
                <a:spcPts val="1750"/>
              </a:lnSpc>
              <a:buNone/>
            </a:pPr>
            <a:r>
              <a:rPr lang="en-US" sz="2000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restore the previous state.</a:t>
            </a:r>
            <a:endParaRPr lang="en-US" sz="2000" dirty="0">
              <a:latin typeface="Quattrocento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E3BA6D7-04C3-E041-8DB4-CD9CD5C1421A}"/>
              </a:ext>
            </a:extLst>
          </p:cNvPr>
          <p:cNvSpPr/>
          <p:nvPr/>
        </p:nvSpPr>
        <p:spPr>
          <a:xfrm>
            <a:off x="376" y="7690261"/>
            <a:ext cx="14630399" cy="534838"/>
          </a:xfrm>
          <a:prstGeom prst="rect">
            <a:avLst/>
          </a:prstGeom>
          <a:solidFill>
            <a:srgbClr val="EF9C82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8412" y="740854"/>
            <a:ext cx="3569851" cy="446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3200" dirty="0">
                <a:solidFill>
                  <a:srgbClr val="FFD9BE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Worked Example</a:t>
            </a:r>
            <a:endParaRPr lang="en-US" sz="3200" dirty="0">
              <a:latin typeface="Quattrocento"/>
            </a:endParaRPr>
          </a:p>
        </p:txBody>
      </p:sp>
      <p:sp>
        <p:nvSpPr>
          <p:cNvPr id="3" name="Text 1"/>
          <p:cNvSpPr/>
          <p:nvPr/>
        </p:nvSpPr>
        <p:spPr>
          <a:xfrm>
            <a:off x="2388751" y="2000369"/>
            <a:ext cx="9852779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 numerical illustration of the Banker's Algorithm.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2388751" y="2402800"/>
            <a:ext cx="1784866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Initial State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388751" y="2721888"/>
            <a:ext cx="4741307" cy="430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Processes: P0, P1, P2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Resources: A, B, C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388751" y="3238381"/>
            <a:ext cx="4741307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Available:</a:t>
            </a: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[A=3, B=3, C=2]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388751" y="3544729"/>
            <a:ext cx="4741307" cy="1924883"/>
          </a:xfrm>
          <a:prstGeom prst="roundRect">
            <a:avLst>
              <a:gd name="adj" fmla="val 1182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96371" y="3552349"/>
            <a:ext cx="4726067" cy="3287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548295" y="3617595"/>
            <a:ext cx="637937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97223" y="3617595"/>
            <a:ext cx="870466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Allocation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78680" y="3617595"/>
            <a:ext cx="870466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Max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60137" y="3617595"/>
            <a:ext cx="1110615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Need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396371" y="3881080"/>
            <a:ext cx="4726067" cy="52697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548295" y="3946327"/>
            <a:ext cx="637937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P0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97223" y="3946327"/>
            <a:ext cx="870466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[A=0, B=1, C=0]</a:t>
            </a:r>
            <a:endParaRPr lang="en-US" sz="2000" dirty="0">
              <a:latin typeface="Quattrocento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78680" y="3946327"/>
            <a:ext cx="870466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[A=7, B=5, C=3]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860137" y="3946327"/>
            <a:ext cx="1110615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[A=7, B=4, C=3]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396371" y="4408051"/>
            <a:ext cx="4726067" cy="52697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548295" y="4473297"/>
            <a:ext cx="637937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P1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497223" y="4473297"/>
            <a:ext cx="870466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[A=2, B=0, C=0]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678680" y="4473297"/>
            <a:ext cx="870466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[A=3, B=2, C=2]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860137" y="4473297"/>
            <a:ext cx="1110615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[A=1, B=2, C=2]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434197" y="4935022"/>
            <a:ext cx="4726067" cy="52697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548295" y="5000268"/>
            <a:ext cx="637937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P2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497223" y="5000268"/>
            <a:ext cx="870466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[A=3, B=0, C=2]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678680" y="5000268"/>
            <a:ext cx="870466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[A=9, B=0, C=2]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860137" y="5000268"/>
            <a:ext cx="1110615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[A=6, B=0, C=0]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507724" y="2402800"/>
            <a:ext cx="1784866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Safe Sequence Result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507724" y="2721888"/>
            <a:ext cx="4741307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algorithm determines a safe sequence, for example: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507724" y="3006566"/>
            <a:ext cx="4741307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System is in a </a:t>
            </a:r>
            <a:r>
              <a:rPr lang="en-US" sz="11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Safe State</a:t>
            </a: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388751" y="5685830"/>
            <a:ext cx="3220164" cy="455057"/>
          </a:xfrm>
          <a:prstGeom prst="roundRect">
            <a:avLst>
              <a:gd name="adj" fmla="val 480110"/>
            </a:avLst>
          </a:prstGeom>
          <a:solidFill>
            <a:srgbClr val="EF9C82"/>
          </a:solidFill>
          <a:ln/>
        </p:spPr>
      </p:sp>
      <p:sp>
        <p:nvSpPr>
          <p:cNvPr id="32" name="Text 30"/>
          <p:cNvSpPr/>
          <p:nvPr/>
        </p:nvSpPr>
        <p:spPr>
          <a:xfrm>
            <a:off x="3885009" y="5771078"/>
            <a:ext cx="227528" cy="284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2540437" y="6236970"/>
            <a:ext cx="1784866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P1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540437" y="6517600"/>
            <a:ext cx="2916793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Can finish as Need[P1] ≤ Available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704999" y="5685830"/>
            <a:ext cx="3220164" cy="455057"/>
          </a:xfrm>
          <a:prstGeom prst="roundRect">
            <a:avLst>
              <a:gd name="adj" fmla="val 480110"/>
            </a:avLst>
          </a:prstGeom>
          <a:solidFill>
            <a:srgbClr val="EF9C82"/>
          </a:solidFill>
          <a:ln/>
        </p:spPr>
      </p:sp>
      <p:sp>
        <p:nvSpPr>
          <p:cNvPr id="36" name="Text 34"/>
          <p:cNvSpPr/>
          <p:nvPr/>
        </p:nvSpPr>
        <p:spPr>
          <a:xfrm>
            <a:off x="7201257" y="5771078"/>
            <a:ext cx="227528" cy="284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5856684" y="6236970"/>
            <a:ext cx="1784866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P0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56684" y="6517600"/>
            <a:ext cx="2916793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Can finish after P1 releases resources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021247" y="5685830"/>
            <a:ext cx="3220164" cy="455057"/>
          </a:xfrm>
          <a:prstGeom prst="roundRect">
            <a:avLst>
              <a:gd name="adj" fmla="val 480110"/>
            </a:avLst>
          </a:prstGeom>
          <a:solidFill>
            <a:srgbClr val="EF9C82"/>
          </a:solidFill>
          <a:ln/>
        </p:spPr>
      </p:sp>
      <p:sp>
        <p:nvSpPr>
          <p:cNvPr id="40" name="Text 38"/>
          <p:cNvSpPr/>
          <p:nvPr/>
        </p:nvSpPr>
        <p:spPr>
          <a:xfrm>
            <a:off x="10517505" y="5771078"/>
            <a:ext cx="227528" cy="284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</a:t>
            </a:r>
            <a:endParaRPr lang="en-US" sz="1750" dirty="0"/>
          </a:p>
        </p:txBody>
      </p:sp>
      <p:sp>
        <p:nvSpPr>
          <p:cNvPr id="41" name="Text 39"/>
          <p:cNvSpPr/>
          <p:nvPr/>
        </p:nvSpPr>
        <p:spPr>
          <a:xfrm>
            <a:off x="9172932" y="6236970"/>
            <a:ext cx="1784866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P2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172932" y="6517600"/>
            <a:ext cx="2916793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Can finish after P0 releases resources</a:t>
            </a:r>
            <a:endParaRPr lang="en-US" sz="1150" dirty="0"/>
          </a:p>
        </p:txBody>
      </p:sp>
      <p:pic>
        <p:nvPicPr>
          <p:cNvPr id="44" name="Picture 4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174E92-454A-B77C-27A1-3BDD47ADB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005" y="1189547"/>
            <a:ext cx="14643157" cy="7040951"/>
          </a:xfrm>
          <a:prstGeom prst="rect">
            <a:avLst/>
          </a:prstGeom>
        </p:spPr>
      </p:pic>
      <p:sp>
        <p:nvSpPr>
          <p:cNvPr id="47" name="Text 2">
            <a:extLst>
              <a:ext uri="{FF2B5EF4-FFF2-40B4-BE49-F238E27FC236}">
                <a16:creationId xmlns:a16="http://schemas.microsoft.com/office/drawing/2014/main" id="{E2B36EED-391D-D41E-7252-440833E10AEC}"/>
              </a:ext>
            </a:extLst>
          </p:cNvPr>
          <p:cNvSpPr/>
          <p:nvPr/>
        </p:nvSpPr>
        <p:spPr>
          <a:xfrm>
            <a:off x="6423944" y="2243931"/>
            <a:ext cx="2870261" cy="780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00"/>
              </a:lnSpc>
            </a:pPr>
            <a:r>
              <a:rPr lang="en-US" sz="2000" dirty="0">
                <a:solidFill>
                  <a:srgbClr val="F9EEE7"/>
                </a:solidFill>
                <a:latin typeface="Quattrocento"/>
                <a:ea typeface="Calibri"/>
                <a:cs typeface="Calibri"/>
              </a:rPr>
              <a:t>Available Resources: 3, 3, 2</a:t>
            </a:r>
            <a:endParaRPr lang="en-US" sz="2000">
              <a:latin typeface="Quattrocento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723549"/>
            <a:ext cx="958738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Advantages, Limitations &amp; Conclusion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65440" y="2786539"/>
            <a:ext cx="6530102" cy="2684145"/>
          </a:xfrm>
          <a:prstGeom prst="roundRect">
            <a:avLst>
              <a:gd name="adj" fmla="val 1338"/>
            </a:avLst>
          </a:prstGeom>
          <a:solidFill>
            <a:srgbClr val="1D4241"/>
          </a:solidFill>
          <a:ln/>
        </p:spPr>
      </p:sp>
      <p:sp>
        <p:nvSpPr>
          <p:cNvPr id="4" name="Text 2"/>
          <p:cNvSpPr/>
          <p:nvPr/>
        </p:nvSpPr>
        <p:spPr>
          <a:xfrm>
            <a:off x="904756" y="3025854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D9BE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Advantages</a:t>
            </a:r>
            <a:endParaRPr lang="en-US" sz="2650" b="1" dirty="0">
              <a:latin typeface="Quattrocento"/>
            </a:endParaRPr>
          </a:p>
        </p:txBody>
      </p:sp>
      <p:sp>
        <p:nvSpPr>
          <p:cNvPr id="5" name="Text 3"/>
          <p:cNvSpPr/>
          <p:nvPr/>
        </p:nvSpPr>
        <p:spPr>
          <a:xfrm>
            <a:off x="904756" y="3687485"/>
            <a:ext cx="6051471" cy="131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Effectively prevents deadlocks.</a:t>
            </a:r>
            <a:endParaRPr lang="en-US" sz="2000">
              <a:latin typeface="Quattrocento"/>
              <a:ea typeface="Calibri"/>
              <a:cs typeface="Calibri"/>
            </a:endParaRP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Ensures the system remains in a safe state.</a:t>
            </a:r>
            <a:endParaRPr lang="en-US" sz="2000">
              <a:latin typeface="Quattrocento"/>
              <a:ea typeface="Calibri"/>
              <a:cs typeface="Calibri"/>
            </a:endParaRP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Provides predictable resource management.</a:t>
            </a:r>
            <a:endParaRPr lang="en-US" sz="2000" dirty="0">
              <a:latin typeface="Quattrocent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442478" y="2786539"/>
            <a:ext cx="6530102" cy="2684145"/>
          </a:xfrm>
          <a:prstGeom prst="roundRect">
            <a:avLst>
              <a:gd name="adj" fmla="val 1338"/>
            </a:avLst>
          </a:prstGeom>
          <a:solidFill>
            <a:srgbClr val="0B1C2D"/>
          </a:solidFill>
          <a:ln/>
        </p:spPr>
      </p:sp>
      <p:sp>
        <p:nvSpPr>
          <p:cNvPr id="7" name="Text 5"/>
          <p:cNvSpPr/>
          <p:nvPr/>
        </p:nvSpPr>
        <p:spPr>
          <a:xfrm>
            <a:off x="7681793" y="3025854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D9BE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Limitations</a:t>
            </a:r>
            <a:endParaRPr lang="en-US" sz="2650" b="1" dirty="0">
              <a:latin typeface="Quattrocento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81793" y="3687485"/>
            <a:ext cx="6051471" cy="1699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Requires prior knowledge of maximum resource needs.</a:t>
            </a:r>
            <a:endParaRPr lang="en-US" sz="2000">
              <a:latin typeface="Quattrocento"/>
              <a:ea typeface="Calibri"/>
              <a:cs typeface="Calibri"/>
            </a:endParaRP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Incurs high computational overhead.</a:t>
            </a:r>
            <a:endParaRPr lang="en-US" sz="2000">
              <a:latin typeface="Quattrocento"/>
              <a:ea typeface="Calibri"/>
              <a:cs typeface="Calibri"/>
            </a:endParaRP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Not suitable for highly dynamic systems.</a:t>
            </a:r>
            <a:endParaRPr lang="en-US" sz="2000" dirty="0">
              <a:latin typeface="Quattrocento"/>
            </a:endParaRPr>
          </a:p>
        </p:txBody>
      </p:sp>
      <p:sp>
        <p:nvSpPr>
          <p:cNvPr id="9" name="Text 7"/>
          <p:cNvSpPr/>
          <p:nvPr/>
        </p:nvSpPr>
        <p:spPr>
          <a:xfrm>
            <a:off x="837724" y="5739884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dirty="0">
                <a:solidFill>
                  <a:srgbClr val="F9EEE7"/>
                </a:solidFill>
                <a:latin typeface="Quattrocento"/>
                <a:ea typeface="Quattrocento" pitchFamily="34" charset="-122"/>
                <a:cs typeface="Quattrocento" pitchFamily="34" charset="-120"/>
              </a:rPr>
              <a:t>The Banker’s Algorithm is a powerful tool for deadlock avoidance, ensuring system stability by meticulously checking for a safe sequence before any resource allocation.</a:t>
            </a:r>
            <a:endParaRPr lang="en-US" sz="2000" dirty="0">
              <a:latin typeface="Quattrocento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27D9F6-267E-8D35-604D-B65E5C8B6855}"/>
              </a:ext>
            </a:extLst>
          </p:cNvPr>
          <p:cNvSpPr/>
          <p:nvPr/>
        </p:nvSpPr>
        <p:spPr>
          <a:xfrm>
            <a:off x="376" y="7690261"/>
            <a:ext cx="14630399" cy="534838"/>
          </a:xfrm>
          <a:prstGeom prst="rect">
            <a:avLst/>
          </a:prstGeom>
          <a:solidFill>
            <a:srgbClr val="EF9C82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A774066-00FE-A05E-E599-43A65912F8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890" b="-2"/>
          <a:stretch>
            <a:fillRect/>
          </a:stretch>
        </p:blipFill>
        <p:spPr>
          <a:xfrm>
            <a:off x="9445" y="264066"/>
            <a:ext cx="4907116" cy="7970477"/>
          </a:xfrm>
          <a:prstGeom prst="rect">
            <a:avLst/>
          </a:prstGeom>
        </p:spPr>
      </p:pic>
      <p:pic>
        <p:nvPicPr>
          <p:cNvPr id="4" name="Picture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FCF7AC81-2AC6-2E84-5199-40F46E7D0C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02" r="26032" b="2"/>
          <a:stretch>
            <a:fillRect/>
          </a:stretch>
        </p:blipFill>
        <p:spPr>
          <a:xfrm>
            <a:off x="4913952" y="258802"/>
            <a:ext cx="4834806" cy="7970467"/>
          </a:xfrm>
          <a:prstGeom prst="rect">
            <a:avLst/>
          </a:prstGeom>
        </p:spPr>
      </p:pic>
      <p:pic>
        <p:nvPicPr>
          <p:cNvPr id="2" name="Picture 1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16E25A80-4054-1DD7-8FEE-B216BFB519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996" r="19812" b="2"/>
          <a:stretch>
            <a:fillRect/>
          </a:stretch>
        </p:blipFill>
        <p:spPr>
          <a:xfrm>
            <a:off x="9746205" y="264066"/>
            <a:ext cx="4884196" cy="797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413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E4A377-C459-E5C8-8A9B-5E44EB3B0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97" y="323491"/>
            <a:ext cx="6667273" cy="7203056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6058C62-AD97-188A-E528-5CDCBD843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7023" y="324659"/>
            <a:ext cx="6917485" cy="706269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7D3021D-EA1D-BD0F-FEEA-FE15367F81BF}"/>
              </a:ext>
            </a:extLst>
          </p:cNvPr>
          <p:cNvSpPr/>
          <p:nvPr/>
        </p:nvSpPr>
        <p:spPr>
          <a:xfrm>
            <a:off x="376" y="7690261"/>
            <a:ext cx="14630399" cy="534838"/>
          </a:xfrm>
          <a:prstGeom prst="rect">
            <a:avLst/>
          </a:prstGeom>
          <a:solidFill>
            <a:srgbClr val="EF9C82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300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11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246</cp:revision>
  <dcterms:created xsi:type="dcterms:W3CDTF">2026-02-24T15:02:08Z</dcterms:created>
  <dcterms:modified xsi:type="dcterms:W3CDTF">2026-02-25T05:53:33Z</dcterms:modified>
</cp:coreProperties>
</file>